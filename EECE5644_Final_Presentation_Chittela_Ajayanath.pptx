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71" r:id="rId4"/>
    <p:sldId id="258" r:id="rId5"/>
    <p:sldId id="272" r:id="rId6"/>
    <p:sldId id="259" r:id="rId7"/>
    <p:sldId id="260" r:id="rId8"/>
    <p:sldId id="261" r:id="rId9"/>
    <p:sldId id="262" r:id="rId10"/>
    <p:sldId id="263" r:id="rId11"/>
    <p:sldId id="273" r:id="rId12"/>
    <p:sldId id="264" r:id="rId13"/>
    <p:sldId id="27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E3C81-D2FA-7652-D968-839D3BED147D}" v="743" dt="2026-08-02T23:47:23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01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37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6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9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64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91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68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1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42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569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26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47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3816" userDrawn="1">
          <p15:clr>
            <a:srgbClr val="F26B43"/>
          </p15:clr>
        </p15:guide>
        <p15:guide id="6" orient="horz" pos="1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ajayanath.c@northeastern.edu" TargetMode="Externa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ajaynathch/requirement_doc_parser" TargetMode="Externa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194560"/>
            <a:ext cx="10545775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Automated Requirement Classification</a:t>
            </a:r>
            <a:endParaRPr lang="en-US" sz="40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From</a:t>
            </a:r>
            <a:r>
              <a:rPr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Technical</a:t>
            </a:r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Specifications </a:t>
            </a:r>
          </a:p>
          <a:p>
            <a:pPr>
              <a:spcBef>
                <a:spcPts val="2000"/>
              </a:spcBef>
            </a:pPr>
            <a:r>
              <a:rPr sz="1800" dirty="0">
                <a:solidFill>
                  <a:srgbClr val="CFDDF2"/>
                </a:solidFill>
                <a:latin typeface="Calibri"/>
                <a:ea typeface="Calibri"/>
                <a:cs typeface="Calibri"/>
              </a:rPr>
              <a:t>EECE5644</a:t>
            </a:r>
            <a:r>
              <a:rPr lang="en-US" dirty="0">
                <a:solidFill>
                  <a:srgbClr val="CFDDF2"/>
                </a:solidFill>
                <a:latin typeface="Calibri"/>
                <a:ea typeface="Calibri"/>
                <a:cs typeface="Calibri"/>
              </a:rPr>
              <a:t>:</a:t>
            </a:r>
            <a:r>
              <a:rPr sz="1800">
                <a:solidFill>
                  <a:srgbClr val="CFDDF2"/>
                </a:solidFill>
                <a:latin typeface="Calibri"/>
                <a:ea typeface="Calibri"/>
                <a:cs typeface="Calibri"/>
              </a:rPr>
              <a:t> Machine Learning and Pattern Recognition </a:t>
            </a:r>
            <a:endParaRPr lang="en-US">
              <a:solidFill>
                <a:srgbClr val="CFDDF2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2000"/>
              </a:spcBef>
            </a:pPr>
            <a:r>
              <a:rPr sz="1800">
                <a:solidFill>
                  <a:srgbClr val="CFDDF2"/>
                </a:solidFill>
                <a:latin typeface="Calibri"/>
                <a:ea typeface="Calibri"/>
                <a:cs typeface="Calibri"/>
              </a:rPr>
              <a:t>Final Project</a:t>
            </a:r>
            <a:endParaRPr>
              <a:latin typeface="Calibri"/>
              <a:ea typeface="Calibri"/>
              <a:cs typeface="Calibri"/>
            </a:endParaRPr>
          </a:p>
          <a:p>
            <a:pPr>
              <a:spcBef>
                <a:spcPts val="10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Chittela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Ajayanath</a:t>
            </a:r>
            <a:r>
              <a:rPr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6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000"/>
              </a:spcBef>
            </a:pPr>
            <a:r>
              <a:rPr sz="1600" dirty="0">
                <a:solidFill>
                  <a:schemeClr val="bg1"/>
                </a:solidFill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ajayanath.c@northeastern.edu</a:t>
            </a: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endParaRPr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024570-D7DE-AEC3-65E9-72142558B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5038" y="3789796"/>
            <a:ext cx="2565015" cy="26342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5648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Technical specs (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NVMe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PCIe, CXL) encode a different obligation level in almost every sentence.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MANDATORY ("shall"), PROHIBITED ("shall not"), RECOMMENDED ("should"), OPTIONAL ("may"), INFORMATIVE (prose).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Engineers must separate and type requirements by hand before writing validation tests slow and 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error-prone.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Goal: automatically (1) extract requirement sentences and (2) classify each by normative modality.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This is the requirement-understanding stage of a larger document-to-code agent.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4602FD-5ECD-51F9-E934-C5E19E27E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Pipeline Architecture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3752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End-to-end, reproducible pipeline</a:t>
            </a: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spcAft>
                <a:spcPts val="800"/>
              </a:spcAft>
              <a:buFont typeface="Courier New"/>
              <a:buChar char="o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parse → segment → filter → weakly label → split → train → evaluate.</a:t>
            </a:r>
            <a:endParaRPr lang="en-US" sz="20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Stage 1</a:t>
            </a:r>
            <a:r>
              <a:rPr lang="en-US"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Document understanding: 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Docling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→ structured Markdown/JSON with section headers, page provenance, and block type.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Stage 2</a:t>
            </a: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</a:t>
            </a: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Requirement classification: two model families trained and evaluated on identical stratified 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splits and metrics.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command regenerates every metric and figure</a:t>
            </a: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;</a:t>
            </a: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nothing between the raw PDF and the reported 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numbers is hand-edited.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Modular design mirrors a larger “document-to-code” agent; this project delivers its first two stages.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FEAD4F-76A0-AD19-D328-C51C70A66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 &amp; Weak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Labelling</a:t>
            </a:r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829329" cy="3902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17711" y="1392007"/>
            <a:ext cx="4369489" cy="35035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Source: NVM Express Base Spec, Rev 2.3.</a:t>
            </a:r>
            <a:endParaRPr lang="en-US"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Parsed with </a:t>
            </a:r>
            <a:r>
              <a:rPr sz="18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Docling</a:t>
            </a: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sentence records with page &amp; section.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125 labeled sentences.</a:t>
            </a:r>
            <a:endParaRPr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gold labels</a:t>
            </a:r>
            <a:r>
              <a:rPr lang="en-US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weak supervision from </a:t>
            </a: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modal keywords.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Realistic, heavy imbalance: INFORMATIVE dominates; RECOMMENDED/PROHIBITED rare.</a:t>
            </a:r>
            <a:endParaRPr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Stratified train / </a:t>
            </a:r>
            <a:r>
              <a:rPr sz="18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</a:t>
            </a: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/ test split.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9B588-F29B-4030-28FB-A4A7DA02E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Weak Supervision Labels Without Gold Data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8725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Specs carry no gold labels → labels come from the document’s own modal language (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config.MODALITY_RULES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).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Curated, longest-match-first lexicon with explicit precedence: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spcAft>
                <a:spcPts val="800"/>
              </a:spcAft>
              <a:buFont typeface="Arial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17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shall not” / “may not” matched before “shall” / “may”; word-boundary regex so “may” never fires inside “maybe.”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standard weak-supervision approach in requirements-engineering NLP scalable, transparent, 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annotation-free.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Trade-off: some irreducible label noise</a:t>
            </a:r>
            <a:r>
              <a:rPr lang="en-US"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“may” as permission vs. possibility can be mislabeled.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AA2592-B21F-C1AC-5A8B-EA2070E1D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Cleaning &amp; Preprocessing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0415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Keep only 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Docling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body prose (text / paragraph / 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list_item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); drop tables, figures, headers.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Regex sentence segmentation that protects spec abbreviations (e.g., i.e., Fig., No., vol.).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Drop fragments &lt; 15 chars or with no letters (removes numbers &amp; cross-ref debris).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Remove exact-text duplicates before labeling.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Word-boundary label matching: "shall not" before "shall"; "may" doesn't fire inside "maybe".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80E253-D793-598A-0CC2-E9583AED6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 Engineering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9954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Classical models</a:t>
            </a:r>
            <a:r>
              <a:rPr lang="en-US"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TF-IDF: sublinear TF, 1–2 grams (captures "shall not", "may not"), accent stripping.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</a:t>
            </a:r>
            <a:r>
              <a:rPr lang="en-US"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 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WordPiece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tokenization (max length 128), fine-tuned contextual embeddings.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Interpretable engineered features for EDA: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length, avg word length, digit &amp; acronym counts, negation / cross-ref / modal-cue flags.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Class imbalance handled with class weights (both model families).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F547C-DB74-5C20-2289-70CCD2847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Exploratory Data Analysis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featur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11341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937760" cy="24160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single surface feature strongly correlates with the label.</a:t>
            </a:r>
            <a:endParaRPr lang="en-US" sz="18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Modal-cue flags carry the most signal.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Sentence length distributions overlap across classes.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n-US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class boundary lives in word choice &amp; </a:t>
            </a: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context, not simple statistics.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B01789-0E83-9531-0BA2-3E2132878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Machine Learning Models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0415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Multinomial Naive Bayes</a:t>
            </a:r>
            <a:r>
              <a:rPr lang="en-US"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generative MAP baseline over TF-IDF counts.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Logistic Regression (TF-IDF) discriminative, balanced, interpretable coefficients.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Linear SVM (TF-IDF) max-margin in high-dimensional sparse space.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6-layer distilled BERT + linear head, class-weighted cross-entropy loss.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Classical model selected by stratified k-fold CV (macro-F1); 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by 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macro-F1.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D8E875-C945-1601-17F2-09B93A0DA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Hyperparameter Tuning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tuning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9648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5168" y="1902158"/>
            <a:ext cx="3982032" cy="30982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Grid search: 24 combos × 2-fold CV (macro-F1).</a:t>
            </a:r>
            <a:endParaRPr lang="en-US"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Tuned </a:t>
            </a:r>
            <a:r>
              <a:rPr sz="18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ngram_range</a:t>
            </a: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min_df</a:t>
            </a: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sublinear_tf</a:t>
            </a: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C.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Best: bigrams, </a:t>
            </a:r>
            <a:r>
              <a:rPr sz="18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min_df</a:t>
            </a: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=2, sublinear TF, C=1.0.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Test macro-F1 0.67 </a:t>
            </a:r>
            <a:r>
              <a:rPr lang="en-US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0.91 (+0.24).</a:t>
            </a:r>
            <a:endParaRPr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Biggest gains: bigrams + sublinear TF scaling.</a:t>
            </a:r>
            <a:endParaRPr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7AE1DF-2923-0FCC-F636-4E24F19D2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Evaluation Protocol &amp; Metric Choice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2726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Stratified 80 / 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/ 20 split (seed 5644); test set (n = 25) is never seen during training or model selection.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Classical models selected by stratified k-fold CV on macro-F1; 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by best-validation-checkpoint macro-F1.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Headline metric = macro-F1: a majority-only classifier already scores ≈ 0.70 accuracy, so accuracy alone is misleading.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Macro-F1 averages per-class F1 equally → it rewards getting the rare, high-value modalities right.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ROC / PR (one-vs-rest): AUC ≈ 1.0 for well-represented classes; PROHIBITED is low purely from 1-sample support.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11EAE-7B74-8092-88EE-2B1405F42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Comparison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896051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937760" cy="22672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DistilBERT: accuracy 0.96, weighted-F1 0.94.</a:t>
            </a:r>
            <a:endParaRPr lang="en-US" sz="18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Tuned </a:t>
            </a:r>
            <a:r>
              <a:rPr sz="18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LogReg</a:t>
            </a: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 best macro-F1 0.91.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Majority baseline accuracy ≈ 0.70.</a:t>
            </a:r>
            <a:endParaRPr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Macro-F1 is the headline metric under imbalance.</a:t>
            </a:r>
            <a:endParaRPr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Linear model rivals the Transformer on this task.</a:t>
            </a:r>
            <a:endParaRPr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51C12-306C-74B2-38E2-091442738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a Linear Model Rivals the Transformer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58046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wins accuracy (0.96) &amp; weighted-F1 (0.94); tuned </a:t>
            </a: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LogReg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wins macro-F1 (0.91) the imbalance metric.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signal is largely lexical: modal cues (“shall”, “may not”) are near-linearly separable in TF-IDF space.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DistilBERT’s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lower macro-F1 (0.74) comes almost entirely from the 1-sample PROHIBITED class</a:t>
            </a:r>
            <a:r>
              <a:rPr lang="en-US"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variance, not capacity.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Masking ablation: both stay above the 0.70 baseline with the trigger hidden → real context use, not keyword lookup.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Practical read: prefer the interpretable linear model here; revisit the Transformer as rare-class data grows.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55886B-D1B4-D586-35E3-16642BF0D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 Error Analysis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confusion_distil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705856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937760" cy="30982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Perfect on MANDATORY &amp; OPTIONAL (P=R=1.00).</a:t>
            </a:r>
            <a:endParaRPr lang="en-US"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INFORMATIVE F1 ≈ 0.97.</a:t>
            </a:r>
            <a:endParaRPr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Errors sit in PROHIBITED (1 test sample) &amp; RECOMMENDED (0).</a:t>
            </a:r>
            <a:endParaRPr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n-US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Data-scarcity</a:t>
            </a: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artifact, not a systematic </a:t>
            </a:r>
            <a:r>
              <a:rPr sz="18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weakness.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Critical error (dropping a real requirement) is minimized: MANDATORY recall = 1.00.</a:t>
            </a:r>
            <a:endParaRPr sz="18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47DA3B-76D7-E2F2-0F36-E1424CDC7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 Importance &amp; Learning Curve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27" y="1558871"/>
            <a:ext cx="12037191" cy="3372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63066" y="4937243"/>
            <a:ext cx="6720066" cy="16825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Top terms per class are intuitive:</a:t>
            </a:r>
            <a:endParaRPr lang="en-US" sz="14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MANDATORY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</a:t>
            </a:r>
            <a:r>
              <a:rPr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"shall", "controller shall".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OPTIONAL/PROHIBITED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</a:t>
            </a:r>
            <a:r>
              <a:rPr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"may", "may not".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Generic nouns &amp; "figure"/"section" ≈ zero weight.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Learning curve still rising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-</a:t>
            </a:r>
            <a:r>
              <a:rPr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more data would help.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6F92A7-D571-A3C1-1DBE-B87B7365B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 the Models Learn Meaning, or Just Keywords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0415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Ablation: blank the modal trigger word and re-evaluate.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Logistic Regression accuracy: 0.88 (full)</a:t>
            </a: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-</a:t>
            </a: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0.80 (masked).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accuracy: 0.96 (full)</a:t>
            </a:r>
            <a:r>
              <a:rPr lang="en-US"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-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0.80 (masked).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Both stay above the 0.70 majority baseline with the keyword hidden.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models use sentence context, not a keyword lookup.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80DCD8-6B84-A703-06F1-2325244C4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Challenges &amp; Lessons Learned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0415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Extreme class imbalance with only 0–2 samples for the rarest classes on the test set.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Weak labels are noisy "may" as permission vs. possibility can be mislabeled.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Tiny test set makes macro-F1 high-variance.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Lesson: a well-tuned linear model can match a Transformer on small, imbalanced text.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Lesson: data volume for rare classes</a:t>
            </a:r>
            <a:r>
              <a:rPr lang="en-US"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model capacity is the real bottleneck.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ED3E1-0AFB-E48F-BACC-64A6B85CA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Real-World Use &amp; Future Work</a:t>
            </a:r>
            <a:endParaRPr lang="en-US" sz="2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3493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Use: feed a document-to-code agent</a:t>
            </a:r>
            <a:r>
              <a:rPr lang="en-US"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typed requirements → test plans, traceability, coverage.</a:t>
            </a:r>
            <a:endParaRPr lang="en-US"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Beneficiaries: firmware/hardware validation, compliance, and technical-writing teams.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Future: expand corpus &amp; add more standards (learning curve still climbing).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Future: build a human-verified gold test set to remove weak-label noise.</a:t>
            </a:r>
            <a:endParaRPr sz="20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Future: add downstream </a:t>
            </a: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requirement - test-case</a:t>
            </a:r>
            <a:r>
              <a:rPr sz="20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generation; confidence calibration for human-in-the-loop.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4BFC38-BB73-F83B-DD59-514920BB2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9462" y="72159"/>
            <a:ext cx="887076" cy="9024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45775" cy="12516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 sz="44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600"/>
              </a:spcBef>
            </a:pPr>
            <a:r>
              <a:rPr sz="1800" dirty="0">
                <a:solidFill>
                  <a:schemeClr val="bg1"/>
                </a:solidFill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https://github.com/ajaynathch/requirement_doc_parser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endParaRPr sz="1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BDEE6B-CB73-CD2B-241A-240853377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96157" y="324007"/>
            <a:ext cx="2682296" cy="27751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BohoVogueVTI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193</cp:revision>
  <dcterms:created xsi:type="dcterms:W3CDTF">2013-01-27T09:14:16Z</dcterms:created>
  <dcterms:modified xsi:type="dcterms:W3CDTF">2026-08-03T00:50:30Z</dcterms:modified>
  <cp:category/>
</cp:coreProperties>
</file>